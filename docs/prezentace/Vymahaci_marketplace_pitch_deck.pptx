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 SW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2019</c:v>
                  </c:pt>
                  <c:pt idx="1">
                    <c:v>2027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</c:v>
                </c:pt>
                <c:pt idx="1">
                  <c:v>2.23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Otevřít headline: velký, roztříštěný a stále analogový evropský trh vymáhání. Prokázaná poptávka přes stávající český web. Productizujeme a automatizujeme ji do škálovatelné EU platformy.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10896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572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VYMÁHACÍ MARKETPLACE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Evropská platforma pro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vymáhání pohledávek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Plně automatizovaný, vícejazyčný marketplace, který propojuje věřitele s prověřenými, licencovanými vymáhacími agenturami — s flexibilními modely odměny včetně úspěšné provize.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1933042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92040"/>
            <a:ext cx="19330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jazyků od startu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93162" y="4892040"/>
            <a:ext cx="2918765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3162" y="4892040"/>
            <a:ext cx="29187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eIDAS QES na každém dokumentu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40526" y="4892040"/>
            <a:ext cx="2470709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0526" y="4892040"/>
            <a:ext cx="24707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Flexibilní modely odměny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Investiční prezentace  ·  xmation.ai  ·  Červenec 2026  ·  Důvěrné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Vymáhání dluhů v Evropě je velké, roztříštěné a stále analogové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1592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nemají čas ani páku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Malé a střední firmy běžně nesou pohledávky po splatnosti — chybí jim čas, právní znalosti i přeshraniční dosah.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842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11592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65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Spotřebitelé nemají kanál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560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Fyzické osoby (nezaplacené půjčky, nájem, škody) nemají důvěryhodnou cestu, jak nárok vymoci — kromě drahého právníka.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41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17332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0233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Odvětví je neprůhledné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Desítky agentur na zemi, extrémně různé úspěšnosti, poplatky a etika. Věřitel je nedokáže porovnat.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041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17332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233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Přeshraničně je to zeď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617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Jiné zákony, jazyky a licence v každé zemi. Český věřitel vymáhající po německém dlužníkovi obvykle uvázne.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Přesně tuto mezeru dnes ručně využívá stávající web vymahaciagentury.cz — poptávka je prokázaná. Chybí </a:t>
            </a:r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automatizace, škála, transparentnost a vícezemní pokrytí.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Automatizovaný marketplace — end to end, v 8 jazycích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stavíme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6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Softwarový zprostředkovatel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nikoli vymáhací agentura. Zůstáváme mimo licenční režim; regulovanou práci dělají licencovaní partneři.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Věřitel zadá dluh za pár minut. Platforma automaticky vygeneruje všechny právní dokumenty, sesbírá kvalifikované e-podpisy (eIDAS QES) a spustí soutěžní kolo mezi agenturami. Nejlepší agentura případ vyhraje a dovede k vymožení.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Bereme provizi z každého vymoženého eura.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15000" y="1691640"/>
            <a:ext cx="58978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71032" y="19385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733" y="205922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0" y="181965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Automatizace dokumentů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75120" y="21671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Mandát, plná moc, GDPR i smlouvy se generují automaticky.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15000" y="2825496"/>
            <a:ext cx="58978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71032" y="30723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733" y="3193085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0" y="295351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QES na všem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675120" y="330098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Kvalifikovaný e-podpis přes QTSP — maximální vymahatelnost v EU.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715000" y="3959352"/>
            <a:ext cx="58978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71032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733" y="432694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408736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Soutěžní nabídky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675120" y="44348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Agentury dávají konkurenční nabídky; admin/algoritmus přidělí.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715000" y="5093208"/>
            <a:ext cx="58978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71032" y="53400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733" y="5460797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75120" y="5221224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jazyků od startu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675120" y="556869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DE, CZ, SK, PL, HU, RU, UA — včetně podceňované RU/UA diaspory.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FUNGUJE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Životní cyklus případu — od zadání po vypořádání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57984" cy="3017520"/>
          </a:xfrm>
          <a:prstGeom prst="roundRect">
            <a:avLst>
              <a:gd name="adj" fmla="val 3814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231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Zadání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3232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Věřitel se registruje, ověří identitu (KYC dle typu a částky) a vloží dluh + důkazy.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88336" y="2971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07208" y="1965960"/>
            <a:ext cx="2157984" cy="3017520"/>
          </a:xfrm>
          <a:prstGeom prst="roundRect">
            <a:avLst>
              <a:gd name="adj" fmla="val 3814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2736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99" y="237634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2926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Generování + QES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971800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vytvoří mandát, plnou moc a GDPR dokumenty; věřitel je podepíše QES.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46904" y="2971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65776" y="1965960"/>
            <a:ext cx="2157984" cy="3017520"/>
          </a:xfrm>
          <a:prstGeom prst="roundRect">
            <a:avLst>
              <a:gd name="adj" fmla="val 3814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61304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367" y="237634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2936" y="2926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Nabídky + přidělení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230368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(redigovaný) se nabídne agenturám v jurisdikci dlužníka; ty soutěží, admin/algoritmus přidělí.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205472" y="2971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24344" y="1965960"/>
            <a:ext cx="2157984" cy="3017520"/>
          </a:xfrm>
          <a:prstGeom prst="roundRect">
            <a:avLst>
              <a:gd name="adj" fmla="val 3814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19872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935" y="237634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1504" y="2926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Vymožení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488936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Agentura vymáhá (smírně → případně soudně). Dlužník platí, platforma rekonciluje.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464040" y="2971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582912" y="1965960"/>
            <a:ext cx="2157984" cy="3017520"/>
          </a:xfrm>
          <a:prstGeom prst="roundRect">
            <a:avLst>
              <a:gd name="adj" fmla="val 3814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78440" y="2240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4503" y="237634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20072" y="292608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Vypořádání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9747504" y="34290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Agentura odešle prostředky, platforma vezme provizi, věřitel je vyplacen; obě strany se hodnotí.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Neúspěšné cesty (sporný dluh, žádné nabídky, insolvence, neplnění agentury, storno) mají definované workflow. Strukturovaný kanál řeší spory mezi stranami.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Softwarová vrstva roste ~4× rychleji než služby — sedíme mezi nimi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Evropský trh SW pro vymáhání (mld. USD)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~11,1% CAGR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2286000"/>
          <a:ext cx="53035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6012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290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46520" y="1645920"/>
            <a:ext cx="5166360" cy="804672"/>
          </a:xfrm>
          <a:prstGeom prst="roundRect">
            <a:avLst>
              <a:gd name="adj" fmla="val 10227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700784"/>
            <a:ext cx="2148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$34,5 mld.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69680" y="17190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Globální trh služeb vymáhání (2026) — poplatkový pool, z něhož bereme podíl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46520" y="2560320"/>
            <a:ext cx="5166360" cy="804672"/>
          </a:xfrm>
          <a:prstGeom prst="roundRect">
            <a:avLst>
              <a:gd name="adj" fmla="val 10227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2615184"/>
            <a:ext cx="2148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$5,2 → 9,8 mld.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69680" y="26334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Globální SW pro vymáhání, 2025 → 2035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3474720"/>
            <a:ext cx="5166360" cy="804672"/>
          </a:xfrm>
          <a:prstGeom prst="roundRect">
            <a:avLst>
              <a:gd name="adj" fmla="val 10227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75120" y="3529584"/>
            <a:ext cx="2148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mld. €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869680" y="35478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roční provizní pool na vymahatelných B2B+B2C dluzích v 8 jazykových trzích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46520" y="4434840"/>
            <a:ext cx="5166360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75120" y="4526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Strukturální tailwiny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48006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Rostoucí NPL a platby po splatnosti  ·  eIDAS 2.0 EU peněženka digitální identity (2025–26) činí QES z telefonu bezešvým  ·  NPL směrnice 2021/2167 tlačí odvětví k licencovaným, auditovatelným hráčům — přesně náš tvar.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Orientační čísla z veřejných zdrojů (Allied Market Research, Market Research Future, Business Research Insights); před externím užitím ověřit primárními zdroji.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Nikdo nekombinuje naše tři výhody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Schopnost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agentury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Inkumbenti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Flexibilní odměna vč. úspěšné provize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Soutěžní nabídky na případy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Plná automatizace + QES všude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věřitelé prvotřídně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jazyků včetně RU/UA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Přeshraničně přes licenc. partnery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9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obranné výhody:  </a:t>
            </a:r>
            <a:pPr algn="ctr"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QES-nativní end-to-end automatizace  ·  (2) přístup pro SME i spotřebitele  ·  (3) skutečná hloubka v 8 jazycích včetně RU/UA. </a:t>
            </a:r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Debitura je vzor — pak ji přeautomatizujeme.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VYHRAJEME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Výhody, které se v čase prohlubují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QES-nativní automatizace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Generování dokumentů + QES sráží dny papírování na minuty. Konkurence stále spoléhá na manuální sourcing nabídek.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88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i spotřebitelé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Sloužíme i B2C věřitelům, které ostatní ignorují — dědictví domácího trhu. Sdružená kupní síla i na malé nároky.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37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Hloubka v 8 jazycích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337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Skutečná lokalizace včetně podceňované RU/UA diaspory (miliony mluvčích v EU). Inkumbenti jsou EN-first.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11082528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5537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Příkop (moat), který posiluje síťovým efektem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74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Rostoucí, hodnocená síť agentur v každé zemi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0749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9204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 data o úspěšnosti činí směrování chytřejším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07492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0392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Důvěra je produkt: vetting, hodnocení, spory v jádře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Flexibilní modely odměny — hlavním je úspěšná provize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Hlavní model: úspěšná provize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z nabízených modelů: platforma bere % z úspěšného poplatku agentury (nebo marži navíc) za vymožený případ. Model odměny věřitel vidí a odsouhlasí předem.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56692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920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Matice pro model úspěšné provize (jako Debitura)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2200" y="2331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Úspěšné % = f(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velikost nároku × region × stáří dluhu</a:t>
            </a:r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200" y="269748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 / menší / zahraniční = vyšší %. Konfigurovatelná matice, nikoli natvrdo. Registrace i nezávazná analýza případu jsou pro věřitele zdarma.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Další příjmové toky (později)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376172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873" y="4646981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" y="51206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za právní eskalaci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807208" y="429768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347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41" y="464698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944368" y="51206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Prémiové předplatné agentur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065776" y="429768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93308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009" y="46469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02936" y="51206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Kredit-checky a tracing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324344" y="429768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151876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577" y="4646981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61504" y="51206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Financování pohledávek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582912" y="4297680"/>
            <a:ext cx="2157984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410444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1145" y="4646981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720072" y="5120640"/>
            <a:ext cx="18836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Anonymizovaná benchmark data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JEDNOTKOVÁ EKONOMIKA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Jednoduchý, škálovatelný model příjmu na případ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8252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Příjem na vymožený případ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výše nároku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míra vymožení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naše provize %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4068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Náklad na případ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QES podpisy (n × poplatek QTSP)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Platební / escrow poplatky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kontroly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Kredit-check / tracing (dle užití)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Variabilní podpora + alokace infra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458968" cy="2697480"/>
          </a:xfrm>
          <a:prstGeom prst="roundRect">
            <a:avLst>
              <a:gd name="adj" fmla="val 3051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Klíčové páky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972" y="3886932"/>
            <a:ext cx="199705" cy="1997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03720" y="3776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Míra vymožení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kvalita agentur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43068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972" y="4398996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42885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Průměrná výše nároku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mix případů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0" y="4818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972" y="4911060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4800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Výše provize %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poplatková matice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0" y="53309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972" y="5423124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5312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QES náklad na případ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minimalizovat počet podpisů, dávkovat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Nasadit nabídku i poptávku, pak replikovat zemi po zemi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Nabídka (agentury) nejdřív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Onboardovat vztahy agentur ze stávajícího webu jako seed síť — řeší two-sided cold-start dřív, než otevřeme věřitelský self-serve ve velkém.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Poptávka (věřitelé)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51460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Konvertovat stávající český SEO/lead flow na self-serve. Pak partnerství: účetní, e-commerce, sdružení pronajímatelů, diaspora komunity (RU/UA).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Sekvence spuštění trhů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2296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22960" y="46908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 + SK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Domácí půda, značka, vztahy agentur, snadný jazykový pár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069080" y="4754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29768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57200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0" y="46908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 + HU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Velké CEE trhy, vysoké objemy plateb po splatnosti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818120" y="4754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804672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E2761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832104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321040" y="46908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/ AT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8321040" y="5212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Největší cena, nejvyšší laťka compliance (RDG registrace partnerů)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Jedna země, jeden jazykový pár, celá smyčka — pak šířka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82528" cy="941832"/>
          </a:xfrm>
          <a:prstGeom prst="roundRect">
            <a:avLst>
              <a:gd name="adj" fmla="val 8738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31797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0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0 · Základy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17320" y="2194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2194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Týdny 0–4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343400" y="1801368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CI/CD na Coolify, Next.js kostra, Postgres/Prisma, i18n(8), auth+RBAC+audit, sandbox QTSP/KYC/PSP, právní kickoff (DPIA/RoPA).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70632"/>
            <a:ext cx="11082528" cy="941832"/>
          </a:xfrm>
          <a:prstGeom prst="roundRect">
            <a:avLst>
              <a:gd name="adj" fmla="val 8738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90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110789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89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1 · MVP CZ/SK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417320" y="32735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1417320" y="32735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Týdny 4–14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43400" y="288036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Celá smyčka: zadání → QES podpis → nabídky → přidělení → vymožení → vypořádání. Portály věřitele, agentury i dlužníka. Otevřené nabídky + admin přidělení.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849624"/>
            <a:ext cx="11082528" cy="941832"/>
          </a:xfrm>
          <a:prstGeom prst="roundRect">
            <a:avLst>
              <a:gd name="adj" fmla="val 8738"/>
            </a:avLst>
          </a:prstGeom>
          <a:solidFill>
            <a:srgbClr val="EAF6F2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8978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968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2 · Rozšíření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417320" y="43525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1417320" y="43525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Měsíce 4–7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343400" y="3959352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+ HU. Bulk import + API, auto-přidělení + algoritmické skórování, SMS kanály, SLA agentur, referral program, AI triage (za flagy).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928616"/>
            <a:ext cx="11082528" cy="941832"/>
          </a:xfrm>
          <a:prstGeom prst="roundRect">
            <a:avLst>
              <a:gd name="adj" fmla="val 8738"/>
            </a:avLst>
          </a:prstGeom>
          <a:solidFill>
            <a:srgbClr val="F4F7FB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5148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268773"/>
            <a:ext cx="261518" cy="2615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3 · DACH &amp; škála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417320" y="5431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1417320" y="543153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Měsíce 7–12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4343400" y="5038344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DE/AT (partneři RDG-registrovaní), kredit-check/tracing, value-added služby, EU peněženka jako podpisová metoda, škálování infra.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Modulární monolit. Legal před škálou — nic nejde do provozu bez schválení právníka a GDPR baseline.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RIZIKA &amp; MITIGACE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Známe hlavní rizika — a jak je řídíme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568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836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/ zneužití PII dlužníků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371600" y="2395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Privacy-by-design, šifrování, redakce, DPIA, DPO, breach runbook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90488" y="17373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5681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13448" y="18836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Reklasifikace regulátorem (vymáhač / platební instituce)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013448" y="2395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Přísná hranice zprostředkovatele; nedržíme klientské peníze; schválení právníkem per země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2841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2552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Two-sided cold-start selže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371600" y="3767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agentur ze stávajících vztahů; konverze existujícího lead flow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90488" y="31089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3284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13448" y="32552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QES náklad/UX zabíjí konverzi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013448" y="3767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Dávkové podpisy, minimum dokumentů, EU peněženka, AES fallback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70001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6268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Neplnění / neodeslání prostředků agenturou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371600" y="51389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hodnocení + finanční zádržné + přímá platba + kanál sporů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90488" y="4480560"/>
            <a:ext cx="54406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6ECF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0001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13448" y="462686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Reputační škoda (agresivní vymáhání)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013448" y="51389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Mitigace: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Eticky prověřená síť, compliant šablony, přívětivé UX pro dlužníka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Důvěrné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VÝZVA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Financujme CZ/SK MVP a právní základ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94436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0266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743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Postavit automatizovanou smyčku s živým QTSP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74320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94436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743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Onboardovat seed síť agentur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395020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0325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490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Zajistit právní schválení per země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9360" y="37490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2E3A6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395020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03250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7490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Dosáhnout prvních reálných vymožení — pak PL/HU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/>
        </p:spPr>
      </p:sp>
      <p:sp>
        <p:nvSpPr>
          <p:cNvPr id="23" name="Text 17"/>
          <p:cNvSpPr/>
          <p:nvPr/>
        </p:nvSpPr>
        <p:spPr>
          <a:xfrm>
            <a:off x="1005840" y="50292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Severka (North Star):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vymožené pro věřitele za měsíc.</a:t>
            </a:r>
            <a:pPr indent="0" marL="0">
              <a:buNone/>
            </a:pPr>
            <a:r>
              <a:rPr lang="en-US" sz="1400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Objem investice v seed kole upřesníme dle rozsahu a tempa expanze.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1520" y="6263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xmation.ai  ·  hi@xmation.ai  ·  Platforma vymahaciagentury.cz  ·  Důvěrné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Vymáhací marketplace — investiční prezentace</dc:title>
  <dc:subject>PptxGenJS Presentation</dc:subject>
  <dc:creator>xmation.ai</dc:creator>
  <cp:lastModifiedBy>xmation.ai</cp:lastModifiedBy>
  <cp:revision>1</cp:revision>
  <dcterms:created xsi:type="dcterms:W3CDTF">2026-07-01T13:09:38Z</dcterms:created>
  <dcterms:modified xsi:type="dcterms:W3CDTF">2026-07-01T13:09:38Z</dcterms:modified>
</cp:coreProperties>
</file>